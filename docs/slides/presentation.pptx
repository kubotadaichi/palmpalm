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1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8686800" y="-914400"/>
            <a:ext cx="4572000" cy="4572000"/>
          </a:xfrm>
          <a:prstGeom prst="rect">
            <a:avLst/>
          </a:prstGeom>
          <a:solidFill>
            <a:srgbClr val="3A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8016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3A1A2C"/>
          </a:solidFill>
          <a:ln w="1270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879A0"/>
                </a:solidFill>
                <a:latin typeface="Helvetica Neue"/>
              </a:rPr>
              <a:t>✦ ハッカソン作品発表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82296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400" b="1">
                <a:solidFill>
                  <a:srgbClr val="E6E6FA"/>
                </a:solidFill>
                <a:latin typeface="Helvetica Neue"/>
              </a:rPr>
              <a:t>ぱむぱむ</a:t>
            </a:r>
          </a:p>
          <a:p>
            <a:pPr algn="l"/>
            <a:r>
              <a:rPr sz="2600" b="0">
                <a:solidFill>
                  <a:srgbClr val="A490C2"/>
                </a:solidFill>
                <a:latin typeface="Helvetica Neue"/>
              </a:rPr>
              <a:t>〜 AI 手相占い 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931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 b="0">
                <a:solidFill>
                  <a:srgbClr val="E6E6FA"/>
                </a:solidFill>
                <a:latin typeface="Helvetica Neue"/>
              </a:rPr>
              <a:t>振動センサーで動揺を検知し、</a:t>
            </a:r>
          </a:p>
          <a:p>
            <a:pPr algn="l">
              <a:spcBef>
                <a:spcPts val="400"/>
              </a:spcBef>
            </a:pPr>
            <a:r>
              <a:rPr sz="1800" b="0">
                <a:solidFill>
                  <a:srgbClr val="E6E6FA"/>
                </a:solidFill>
                <a:latin typeface="Helvetica Neue"/>
              </a:rPr>
              <a:t>Gemini AI が容赦なく追い込む体験型アプリ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120640"/>
            <a:ext cx="2011680" cy="411480"/>
          </a:xfrm>
          <a:prstGeom prst="rect">
            <a:avLst/>
          </a:prstGeom>
          <a:solidFill>
            <a:srgbClr val="2A2A50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490C2"/>
                </a:solidFill>
                <a:latin typeface="Helvetica Neue"/>
              </a:rPr>
              <a:t>Raspberry Pi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5120640"/>
            <a:ext cx="2011680" cy="411480"/>
          </a:xfrm>
          <a:prstGeom prst="rect">
            <a:avLst/>
          </a:prstGeom>
          <a:solidFill>
            <a:srgbClr val="2A2A50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490C2"/>
                </a:solidFill>
                <a:latin typeface="Helvetica Neue"/>
              </a:rPr>
              <a:t>Gemini Live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212080" y="5120640"/>
            <a:ext cx="2011680" cy="411480"/>
          </a:xfrm>
          <a:prstGeom prst="rect">
            <a:avLst/>
          </a:prstGeom>
          <a:solidFill>
            <a:srgbClr val="2A2A50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>
                <a:solidFill>
                  <a:srgbClr val="A490C2"/>
                </a:solidFill>
                <a:latin typeface="Helvetica Neue"/>
              </a:rPr>
              <a:t>FastAPI + React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2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3A1A2C"/>
          </a:solidFill>
          <a:ln w="12700">
            <a:solidFill>
              <a:srgbClr val="F4D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F4D03F"/>
                </a:solidFill>
                <a:latin typeface="Helvetica Neue"/>
              </a:rPr>
              <a:t>✦ きっかけ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6E6FA"/>
                </a:solidFill>
                <a:latin typeface="Helvetica Neue"/>
              </a:rPr>
              <a:t>なぜ手相占いは「当たる」のか？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10789920" cy="365760"/>
          </a:xfrm>
          <a:prstGeom prst="rect">
            <a:avLst/>
          </a:prstGeom>
          <a:solidFill>
            <a:srgbClr val="3A2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490C2"/>
                </a:solidFill>
                <a:latin typeface="Helvetica Neue"/>
              </a:rPr>
              <a:t>本物の占い師がやっていること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874519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490C2"/>
                </a:solidFill>
                <a:latin typeface="Helvetica Neue"/>
              </a:rPr>
              <a:t>ぱむぱむでの実現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10789920" cy="731520"/>
          </a:xfrm>
          <a:prstGeom prst="rect">
            <a:avLst/>
          </a:prstGeom>
          <a:solidFill>
            <a:srgbClr val="28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34188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90C2"/>
                </a:solidFill>
                <a:latin typeface="Helvetica Neue"/>
              </a:rPr>
              <a:t>広い仮説を投げ、反応を観察する（バーナム効果）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34188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234188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Stage1：誰にでも当てはまる感情仮説を投下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10789920" cy="731520"/>
          </a:xfrm>
          <a:prstGeom prst="rect">
            <a:avLst/>
          </a:prstGeom>
          <a:solidFill>
            <a:srgbClr val="2418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1912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90C2"/>
                </a:solidFill>
                <a:latin typeface="Helvetica Neue"/>
              </a:rPr>
              <a:t>表情・呼吸・手の震えで反応を読む（Cold Reading）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1912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77840" y="311912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振動センサーで手の震え = 動揺率（0〜100%）に変換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794760"/>
            <a:ext cx="10789920" cy="731520"/>
          </a:xfrm>
          <a:prstGeom prst="rect">
            <a:avLst/>
          </a:prstGeom>
          <a:solidFill>
            <a:srgbClr val="281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8963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90C2"/>
                </a:solidFill>
                <a:latin typeface="Helvetica Neue"/>
              </a:rPr>
              <a:t>反応が出たら「図星」として断言・追い込む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37760" y="3896360"/>
            <a:ext cx="548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3896360"/>
            <a:ext cx="5669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Stage2：動揺率に応じてAIの「圧」を最大化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983480"/>
            <a:ext cx="54864" cy="640080"/>
          </a:xfrm>
          <a:prstGeom prst="rect">
            <a:avLst/>
          </a:prstGeom>
          <a:solidFill>
            <a:srgbClr val="E87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983480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6E6FA"/>
                </a:solidFill>
                <a:latin typeface="Helvetica Neue"/>
              </a:rPr>
              <a:t>「瞳孔の反応を読む」をセンサーで代替できるんじゃないか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3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3A1A2C"/>
          </a:solidFill>
          <a:ln w="1270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879A0"/>
                </a:solidFill>
                <a:latin typeface="Helvetica Neue"/>
              </a:rPr>
              <a:t>✦ コンセプト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6FA"/>
                </a:solidFill>
                <a:latin typeface="Helvetica Neue"/>
              </a:rPr>
              <a:t>振動センサーで動揺を検知し、</a:t>
            </a:r>
          </a:p>
          <a:p>
            <a:pPr algn="l"/>
            <a:r>
              <a:rPr sz="3200" b="1">
                <a:solidFill>
                  <a:srgbClr val="E879A0"/>
                </a:solidFill>
                <a:latin typeface="Helvetica Neue"/>
              </a:rPr>
              <a:t>AI が追い込む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1371600" cy="1188720"/>
          </a:xfrm>
          <a:prstGeom prst="rect">
            <a:avLst/>
          </a:prstGeom>
          <a:solidFill>
            <a:srgbClr val="2A2A50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6E6FA"/>
                </a:solidFill>
                <a:latin typeface="Helvetica Neue"/>
              </a:rPr>
              <a:t>🖐️</a:t>
            </a:r>
          </a:p>
          <a:p>
            <a:pPr algn="ctr"/>
            <a:r>
              <a:rPr sz="1100" b="0">
                <a:solidFill>
                  <a:srgbClr val="A490C2"/>
                </a:solidFill>
                <a:latin typeface="Helvetica Neue"/>
              </a:rPr>
              <a:t>手を乗せる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2286000"/>
            <a:ext cx="1371600" cy="1188720"/>
          </a:xfrm>
          <a:prstGeom prst="rect">
            <a:avLst/>
          </a:prstGeom>
          <a:solidFill>
            <a:srgbClr val="2A2A50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22860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6E6FA"/>
                </a:solidFill>
                <a:latin typeface="Helvetica Neue"/>
              </a:rPr>
              <a:t>📡</a:t>
            </a:r>
          </a:p>
          <a:p>
            <a:pPr algn="ctr"/>
            <a:r>
              <a:rPr sz="1100" b="0">
                <a:solidFill>
                  <a:srgbClr val="A490C2"/>
                </a:solidFill>
                <a:latin typeface="Helvetica Neue"/>
              </a:rPr>
              <a:t>振動センサー
（ラズパイ）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2286000"/>
            <a:ext cx="1371600" cy="1188720"/>
          </a:xfrm>
          <a:prstGeom prst="rect">
            <a:avLst/>
          </a:prstGeom>
          <a:solidFill>
            <a:srgbClr val="2A2A50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22860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6E6FA"/>
                </a:solidFill>
                <a:latin typeface="Helvetica Neue"/>
              </a:rPr>
              <a:t>📊</a:t>
            </a:r>
          </a:p>
          <a:p>
            <a:pPr algn="ctr"/>
            <a:r>
              <a:rPr sz="1100" b="0">
                <a:solidFill>
                  <a:srgbClr val="A490C2"/>
                </a:solidFill>
                <a:latin typeface="Helvetica Neue"/>
              </a:rPr>
              <a:t>動揺率
0〜100%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2651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286000"/>
            <a:ext cx="1371600" cy="1188720"/>
          </a:xfrm>
          <a:prstGeom prst="rect">
            <a:avLst/>
          </a:prstGeom>
          <a:solidFill>
            <a:srgbClr val="3A182C"/>
          </a:solidFill>
          <a:ln w="1905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228600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>
                <a:solidFill>
                  <a:srgbClr val="E6E6FA"/>
                </a:solidFill>
                <a:latin typeface="Helvetica Neue"/>
              </a:rPr>
              <a:t>🤖</a:t>
            </a:r>
          </a:p>
          <a:p>
            <a:pPr algn="ctr"/>
            <a:r>
              <a:rPr sz="1100" b="0">
                <a:solidFill>
                  <a:srgbClr val="E879A0"/>
                </a:solidFill>
                <a:latin typeface="Helvetica Neue"/>
              </a:rPr>
              <a:t>Gemini が
追い込む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40480"/>
            <a:ext cx="4846320" cy="1188720"/>
          </a:xfrm>
          <a:prstGeom prst="rect">
            <a:avLst/>
          </a:prstGeom>
          <a:solidFill>
            <a:srgbClr val="242448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90C2"/>
                </a:solidFill>
                <a:latin typeface="Helvetica Neue"/>
              </a:rPr>
              <a:t>動揺率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13308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4D03F"/>
                </a:solidFill>
                <a:latin typeface="Helvetica Neue"/>
              </a:rPr>
              <a:t>0 → 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90C2"/>
                </a:solidFill>
                <a:latin typeface="Helvetica Neue"/>
              </a:rPr>
              <a:t>スライディングウィンドウ集計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52160" y="3840480"/>
            <a:ext cx="4846320" cy="1188720"/>
          </a:xfrm>
          <a:prstGeom prst="rect">
            <a:avLst/>
          </a:prstGeom>
          <a:solidFill>
            <a:srgbClr val="242448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490C2"/>
                </a:solidFill>
                <a:latin typeface="Helvetica Neue"/>
              </a:rPr>
              <a:t>AI の態度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4133088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9A0"/>
                </a:solidFill>
                <a:latin typeface="Helvetica Neue"/>
              </a:rPr>
              <a:t>探り → 断言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89320" y="4663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A490C2"/>
                </a:solidFill>
                <a:latin typeface="Helvetica Neue"/>
              </a:rPr>
              <a:t>Cold Reading のロジックを実装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4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E6E6FA"/>
                </a:solidFill>
                <a:latin typeface="Helvetica Neue"/>
              </a:rPr>
              <a:t>🖐️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879A0"/>
                </a:solidFill>
                <a:latin typeface="Helvetica Neue"/>
              </a:rPr>
              <a:t>Demo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060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6FA"/>
                </a:solidFill>
                <a:latin typeface="Helvetica Neue"/>
              </a:rPr>
              <a:t>実際に占われてみる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490C2"/>
                </a:solidFill>
                <a:latin typeface="Helvetica Neue"/>
              </a:rPr>
              <a:t>手を乗せると… AIが喋り始める → 体が反応する → AIが追い込む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60" y="4114800"/>
            <a:ext cx="1554480" cy="384048"/>
          </a:xfrm>
          <a:prstGeom prst="rect">
            <a:avLst/>
          </a:prstGeom>
          <a:solidFill>
            <a:srgbClr val="1A1A3A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A4E8F"/>
                </a:solidFill>
                <a:latin typeface="Helvetica Neue"/>
              </a:rPr>
              <a:t>約 2 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4114800"/>
            <a:ext cx="1554480" cy="384048"/>
          </a:xfrm>
          <a:prstGeom prst="rect">
            <a:avLst/>
          </a:prstGeom>
          <a:solidFill>
            <a:srgbClr val="1A1A3A"/>
          </a:solidFill>
          <a:ln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E879A0"/>
                </a:solidFill>
                <a:latin typeface="Helvetica Neue"/>
              </a:rPr>
              <a:t>実機デモ動画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5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4A4E8F"/>
          </a:solidFill>
          <a:ln w="1270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A4E8F"/>
                </a:solidFill>
                <a:latin typeface="Helvetica Neue"/>
              </a:rPr>
              <a:t>✦ 仕組み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6FA"/>
                </a:solidFill>
                <a:latin typeface="Helvetica Neue"/>
              </a:rPr>
              <a:t>どうやって動いているか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5276" y="1920240"/>
            <a:ext cx="1828800" cy="1371600"/>
          </a:xfrm>
          <a:prstGeom prst="rect">
            <a:avLst/>
          </a:prstGeom>
          <a:solidFill>
            <a:srgbClr val="221838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5276" y="19202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6FA"/>
                </a:solidFill>
                <a:latin typeface="Helvetica Neue"/>
              </a:rPr>
              <a:t>📡</a:t>
            </a:r>
          </a:p>
          <a:p>
            <a:pPr algn="ctr"/>
            <a:r>
              <a:rPr sz="1300" b="1">
                <a:solidFill>
                  <a:srgbClr val="E6E6FA"/>
                </a:solidFill>
                <a:latin typeface="Helvetica Neue"/>
              </a:rPr>
              <a:t>Raspberry Pi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振動センサー
0/1 パルス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94076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4076" y="2788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490C2"/>
                </a:solidFill>
                <a:latin typeface="Helvetica Neue"/>
              </a:rPr>
              <a:t>WebSocket</a:t>
            </a:r>
          </a:p>
        </p:txBody>
      </p:sp>
      <p:sp>
        <p:nvSpPr>
          <p:cNvPr id="9" name="Rectangle 8"/>
          <p:cNvSpPr/>
          <p:nvPr/>
        </p:nvSpPr>
        <p:spPr>
          <a:xfrm>
            <a:off x="3808476" y="1920240"/>
            <a:ext cx="1828800" cy="1371600"/>
          </a:xfrm>
          <a:prstGeom prst="rect">
            <a:avLst/>
          </a:prstGeom>
          <a:solidFill>
            <a:srgbClr val="221838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08476" y="19202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6FA"/>
                </a:solidFill>
                <a:latin typeface="Helvetica Neue"/>
              </a:rPr>
              <a:t>⚙️</a:t>
            </a:r>
          </a:p>
          <a:p>
            <a:pPr algn="ctr"/>
            <a:r>
              <a:rPr sz="1300" b="1">
                <a:solidFill>
                  <a:srgbClr val="E6E6FA"/>
                </a:solidFill>
                <a:latin typeface="Helvetica Neue"/>
              </a:rPr>
              <a:t>バックエンド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FastAPI
動揺率エンジン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37276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37276" y="2788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490C2"/>
                </a:solidFill>
                <a:latin typeface="Helvetica Neue"/>
              </a:rPr>
              <a:t>Tool 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51676" y="1920240"/>
            <a:ext cx="1828800" cy="1371600"/>
          </a:xfrm>
          <a:prstGeom prst="rect">
            <a:avLst/>
          </a:prstGeom>
          <a:solidFill>
            <a:srgbClr val="3A182C"/>
          </a:solidFill>
          <a:ln w="1905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1676" y="19202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6FA"/>
                </a:solidFill>
                <a:latin typeface="Helvetica Neue"/>
              </a:rPr>
              <a:t>🤖</a:t>
            </a:r>
          </a:p>
          <a:p>
            <a:pPr algn="ctr"/>
            <a:r>
              <a:rPr sz="1300" b="1">
                <a:solidFill>
                  <a:srgbClr val="E6E6FA"/>
                </a:solidFill>
                <a:latin typeface="Helvetica Neue"/>
              </a:rPr>
              <a:t>Gemini Live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リアルタイム
音声生成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0476" y="237744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E879A0"/>
                </a:solidFill>
                <a:latin typeface="Helvetica Neue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0476" y="27889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A490C2"/>
                </a:solidFill>
                <a:latin typeface="Helvetica Neue"/>
              </a:rPr>
              <a:t>TTS 音声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94876" y="1920240"/>
            <a:ext cx="1828800" cy="1371600"/>
          </a:xfrm>
          <a:prstGeom prst="rect">
            <a:avLst/>
          </a:prstGeom>
          <a:solidFill>
            <a:srgbClr val="221838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94876" y="192024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E6E6FA"/>
                </a:solidFill>
                <a:latin typeface="Helvetica Neue"/>
              </a:rPr>
              <a:t>🌐</a:t>
            </a:r>
          </a:p>
          <a:p>
            <a:pPr algn="ctr"/>
            <a:r>
              <a:rPr sz="1300" b="1">
                <a:solidFill>
                  <a:srgbClr val="E6E6FA"/>
                </a:solidFill>
                <a:latin typeface="Helvetica Neue"/>
              </a:rPr>
              <a:t>ブラウザ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React
音声再生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566160"/>
            <a:ext cx="5212080" cy="1188720"/>
          </a:xfrm>
          <a:prstGeom prst="rect">
            <a:avLst/>
          </a:prstGeom>
          <a:solidFill>
            <a:srgbClr val="242444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657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490C2"/>
                </a:solidFill>
                <a:latin typeface="Helvetica Neue"/>
              </a:rPr>
              <a:t>動揺率エンジン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913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直近 10 秒の振動数をスライディングウィンドウで集計。急上昇（+30%）検知時にAIへプッシュ通知。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3566160"/>
            <a:ext cx="5212080" cy="1188720"/>
          </a:xfrm>
          <a:prstGeom prst="rect">
            <a:avLst/>
          </a:prstGeom>
          <a:solidFill>
            <a:srgbClr val="242444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36576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490C2"/>
                </a:solidFill>
                <a:latin typeface="Helvetica Neue"/>
              </a:rPr>
              <a:t>Gemini Tool 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3913632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AI が自発的に get_agitation() を呼び出し、リアルタイムで動揺率を取得しながら応答を組み立てる。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6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3A1A2C"/>
          </a:solidFill>
          <a:ln w="1270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879A0"/>
                </a:solidFill>
                <a:latin typeface="Helvetica Neue"/>
              </a:rPr>
              <a:t>✦ AI の追い込みロジック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2296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E6E6FA"/>
                </a:solidFill>
                <a:latin typeface="Helvetica Neue"/>
              </a:rPr>
              <a:t>動揺率で変わる、</a:t>
            </a:r>
          </a:p>
          <a:p>
            <a:pPr algn="l"/>
            <a:r>
              <a:rPr sz="3200" b="1">
                <a:solidFill>
                  <a:srgbClr val="E879A0"/>
                </a:solidFill>
                <a:latin typeface="Helvetica Neue"/>
              </a:rPr>
              <a:t>AI の圧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74519"/>
            <a:ext cx="11247120" cy="347472"/>
          </a:xfrm>
          <a:prstGeom prst="rect">
            <a:avLst/>
          </a:prstGeom>
          <a:solidFill>
            <a:srgbClr val="2A2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490C2"/>
                </a:solidFill>
                <a:latin typeface="Helvetica Neue"/>
              </a:rPr>
              <a:t>動揺率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920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490C2"/>
                </a:solidFill>
                <a:latin typeface="Helvetica Neue"/>
              </a:rPr>
              <a:t>強度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20240"/>
            <a:ext cx="7406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A490C2"/>
                </a:solidFill>
                <a:latin typeface="Helvetica Neue"/>
              </a:rPr>
              <a:t>AI の台詞（例）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240280"/>
            <a:ext cx="11247120" cy="777240"/>
          </a:xfrm>
          <a:prstGeom prst="rect">
            <a:avLst/>
          </a:prstGeom>
          <a:solidFill>
            <a:srgbClr val="1E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0 〜 30%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97480"/>
            <a:ext cx="384048" cy="109728"/>
          </a:xfrm>
          <a:prstGeom prst="rect">
            <a:avLst/>
          </a:prstGeom>
          <a:solidFill>
            <a:srgbClr val="4A4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423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90C2"/>
                </a:solidFill>
                <a:latin typeface="Helvetica Neue"/>
              </a:rPr>
              <a:t>探り・暗示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37744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6FA"/>
                </a:solidFill>
                <a:latin typeface="Helvetica Neue"/>
              </a:rPr>
              <a:t>「何かが微かに動いています……何を思い出しましたか？」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063240"/>
            <a:ext cx="11247120" cy="777240"/>
          </a:xfrm>
          <a:prstGeom prst="rect">
            <a:avLst/>
          </a:prstGeom>
          <a:solidFill>
            <a:srgbClr val="2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30 〜 60%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520440"/>
            <a:ext cx="768096" cy="109728"/>
          </a:xfrm>
          <a:prstGeom prst="rect">
            <a:avLst/>
          </a:prstGeom>
          <a:solidFill>
            <a:srgbClr val="A49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06040" y="3246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490C2"/>
                </a:solidFill>
                <a:latin typeface="Helvetica Neue"/>
              </a:rPr>
              <a:t>確信・絞り込み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20040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6E6FA"/>
                </a:solidFill>
                <a:latin typeface="Helvetica Neue"/>
              </a:rPr>
              <a:t>「体が反応しました。その感覚、ずっと持っていたのでは？」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886200"/>
            <a:ext cx="11247120" cy="777240"/>
          </a:xfrm>
          <a:prstGeom prst="rect">
            <a:avLst/>
          </a:prstGeom>
          <a:solidFill>
            <a:srgbClr val="1E1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93192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60 〜 80%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4343400"/>
            <a:ext cx="1152144" cy="109728"/>
          </a:xfrm>
          <a:prstGeom prst="rect">
            <a:avLst/>
          </a:prstGeom>
          <a:solidFill>
            <a:srgbClr val="E879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4069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879A0"/>
                </a:solidFill>
                <a:latin typeface="Helvetica Neue"/>
              </a:rPr>
              <a:t>断言・追い込み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02336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879A0"/>
                </a:solidFill>
                <a:latin typeface="Helvetica Neue"/>
              </a:rPr>
              <a:t>「それは○○への恐れです——言えなかった言葉があるでしょう？」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4709160"/>
            <a:ext cx="11247120" cy="777240"/>
          </a:xfrm>
          <a:prstGeom prst="rect">
            <a:avLst/>
          </a:prstGeom>
          <a:solidFill>
            <a:srgbClr val="221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75488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E6E6FA"/>
                </a:solidFill>
                <a:latin typeface="Helvetica Neue"/>
              </a:rPr>
              <a:t>80% 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166360"/>
            <a:ext cx="1371600" cy="109728"/>
          </a:xfrm>
          <a:prstGeom prst="rect">
            <a:avLst/>
          </a:prstGeom>
          <a:solidFill>
            <a:srgbClr val="F4D0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06040" y="48920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4D03F"/>
                </a:solidFill>
                <a:latin typeface="Helvetica Neue"/>
              </a:rPr>
              <a:t>完全断言・畳み掛け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60520" y="4846320"/>
            <a:ext cx="7223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4D03F"/>
                </a:solidFill>
                <a:latin typeface="Helvetica Neue"/>
              </a:rPr>
              <a:t>「隠せていません。その名前、今頭に浮かんでいますね？」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0D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7 /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94960" y="73152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0">
                <a:solidFill>
                  <a:srgbClr val="E6E6FA"/>
                </a:solidFill>
                <a:latin typeface="Helvetica Neue"/>
              </a:rPr>
              <a:t>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1828800"/>
            <a:ext cx="6675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E879A0"/>
                </a:solidFill>
                <a:latin typeface="Helvetica Neue"/>
              </a:rPr>
              <a:t>Demo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606040"/>
            <a:ext cx="8503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E6FA"/>
                </a:solidFill>
                <a:latin typeface="Helvetica Neue"/>
              </a:rPr>
              <a:t>動揺 MAX → AI が追い込むシーン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418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490C2"/>
                </a:solidFill>
                <a:latin typeface="Helvetica Neue"/>
              </a:rPr>
              <a:t>動揺率が上昇するにつれてAIの「圧」が変わる様子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4114800"/>
            <a:ext cx="2103120" cy="384048"/>
          </a:xfrm>
          <a:prstGeom prst="rect">
            <a:avLst/>
          </a:prstGeom>
          <a:solidFill>
            <a:srgbClr val="1A1A3A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4A4E8F"/>
                </a:solidFill>
                <a:latin typeface="Helvetica Neue"/>
              </a:rPr>
              <a:t>約 2 分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4114800"/>
            <a:ext cx="2103120" cy="384048"/>
          </a:xfrm>
          <a:prstGeom prst="rect">
            <a:avLst/>
          </a:prstGeom>
          <a:solidFill>
            <a:srgbClr val="1A1A3A"/>
          </a:solidFill>
          <a:ln>
            <a:solidFill>
              <a:srgbClr val="F4D0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4D03F"/>
                </a:solidFill>
                <a:latin typeface="Helvetica Neue"/>
              </a:rPr>
              <a:t>「隠せていません」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E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8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4572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4A4E8F"/>
          </a:solidFill>
          <a:ln w="1270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4A4E8F"/>
                </a:solidFill>
                <a:latin typeface="Helvetica Neue"/>
              </a:rPr>
              <a:t>✦ 技術スタック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41248"/>
            <a:ext cx="10058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E6E6FA"/>
                </a:solidFill>
                <a:latin typeface="Helvetica Neue"/>
              </a:rPr>
              <a:t>使った技術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828800"/>
            <a:ext cx="2560320" cy="1645920"/>
          </a:xfrm>
          <a:prstGeom prst="rect">
            <a:avLst/>
          </a:prstGeom>
          <a:solidFill>
            <a:srgbClr val="221E3A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93776" y="18288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6E6FA"/>
                </a:solidFill>
                <a:latin typeface="Helvetica Neue"/>
              </a:rPr>
              <a:t>📡</a:t>
            </a:r>
          </a:p>
          <a:p>
            <a:pPr algn="ctr"/>
            <a:r>
              <a:rPr sz="1400" b="1">
                <a:solidFill>
                  <a:srgbClr val="E6E6FA"/>
                </a:solidFill>
                <a:latin typeface="Helvetica Neue"/>
              </a:rPr>
              <a:t>Raspberry Pi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振動センサー
GPIO 0/1 パルス</a:t>
            </a:r>
          </a:p>
        </p:txBody>
      </p:sp>
      <p:sp>
        <p:nvSpPr>
          <p:cNvPr id="7" name="Rectangle 6"/>
          <p:cNvSpPr/>
          <p:nvPr/>
        </p:nvSpPr>
        <p:spPr>
          <a:xfrm>
            <a:off x="3374136" y="1828800"/>
            <a:ext cx="2560320" cy="1645920"/>
          </a:xfrm>
          <a:prstGeom prst="rect">
            <a:avLst/>
          </a:prstGeom>
          <a:solidFill>
            <a:srgbClr val="3A182C"/>
          </a:solidFill>
          <a:ln w="1905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74136" y="18288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6E6FA"/>
                </a:solidFill>
                <a:latin typeface="Helvetica Neue"/>
              </a:rPr>
              <a:t>🤖</a:t>
            </a:r>
          </a:p>
          <a:p>
            <a:pPr algn="ctr"/>
            <a:r>
              <a:rPr sz="1400" b="1">
                <a:solidFill>
                  <a:srgbClr val="E6E6FA"/>
                </a:solidFill>
                <a:latin typeface="Helvetica Neue"/>
              </a:rPr>
              <a:t>Gemini Live API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gemini-live-2.5-flash
Tool Use + VAD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4496" y="1828800"/>
            <a:ext cx="2560320" cy="1645920"/>
          </a:xfrm>
          <a:prstGeom prst="rect">
            <a:avLst/>
          </a:prstGeom>
          <a:solidFill>
            <a:srgbClr val="3A182C"/>
          </a:solidFill>
          <a:ln w="1905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54496" y="18288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6E6FA"/>
                </a:solidFill>
                <a:latin typeface="Helvetica Neue"/>
              </a:rPr>
              <a:t>🗣️</a:t>
            </a:r>
          </a:p>
          <a:p>
            <a:pPr algn="ctr"/>
            <a:r>
              <a:rPr sz="1400" b="1">
                <a:solidFill>
                  <a:srgbClr val="E6E6FA"/>
                </a:solidFill>
                <a:latin typeface="Helvetica Neue"/>
              </a:rPr>
              <a:t>Gemini TTS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gemini-2.5-flash-tts
リアルタイム音声生成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34856" y="1828800"/>
            <a:ext cx="2560320" cy="1645920"/>
          </a:xfrm>
          <a:prstGeom prst="rect">
            <a:avLst/>
          </a:prstGeom>
          <a:solidFill>
            <a:srgbClr val="221E3A"/>
          </a:solidFill>
          <a:ln w="19050"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34856" y="1828800"/>
            <a:ext cx="2560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6E6FA"/>
                </a:solidFill>
                <a:latin typeface="Helvetica Neue"/>
              </a:rPr>
              <a:t>⚙️</a:t>
            </a:r>
          </a:p>
          <a:p>
            <a:pPr algn="ctr"/>
            <a:r>
              <a:rPr sz="1400" b="1">
                <a:solidFill>
                  <a:srgbClr val="E6E6FA"/>
                </a:solidFill>
                <a:latin typeface="Helvetica Neue"/>
              </a:rPr>
              <a:t>FastAPI + React</a:t>
            </a:r>
          </a:p>
          <a:p>
            <a:pPr algn="ctr"/>
            <a:r>
              <a:rPr sz="1000" b="0">
                <a:solidFill>
                  <a:srgbClr val="A490C2"/>
                </a:solidFill>
                <a:latin typeface="Helvetica Neue"/>
              </a:rPr>
              <a:t>WebSocket 接続
Docker / OrbStack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749039"/>
            <a:ext cx="10972800" cy="1188720"/>
          </a:xfrm>
          <a:prstGeom prst="rect">
            <a:avLst/>
          </a:prstGeom>
          <a:solidFill>
            <a:srgbClr val="22223E"/>
          </a:solidFill>
          <a:ln>
            <a:solidFill>
              <a:srgbClr val="4A4E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822191"/>
            <a:ext cx="10607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490C2"/>
                </a:solidFill>
                <a:latin typeface="Helvetica Neue"/>
              </a:rPr>
              <a:t>ポイント：Gemini が自分で動揺率を取りに行く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1148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6E6FA"/>
                </a:solidFill>
                <a:latin typeface="Helvetica Neue"/>
              </a:rPr>
              <a:t>AI はバックエンドの get_agitation() ツールを自律的に呼び出し、リアルタイムの動揺率を取得しながら応答を生成する。センサーと言語モデルがリアルタイムに連携。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0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1672" y="254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490C2"/>
                </a:solidFill>
                <a:latin typeface="Helvetica Neue"/>
              </a:rPr>
              <a:t>9 / 9</a:t>
            </a:r>
          </a:p>
        </p:txBody>
      </p:sp>
      <p:sp>
        <p:nvSpPr>
          <p:cNvPr id="3" name="Rectangle 2"/>
          <p:cNvSpPr/>
          <p:nvPr/>
        </p:nvSpPr>
        <p:spPr>
          <a:xfrm>
            <a:off x="5120640" y="45720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3A1A2C"/>
          </a:solidFill>
          <a:ln w="12700">
            <a:solidFill>
              <a:srgbClr val="E879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900" b="1">
                <a:solidFill>
                  <a:srgbClr val="E879A0"/>
                </a:solidFill>
                <a:latin typeface="Helvetica Neue"/>
              </a:rPr>
              <a:t>✦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E6E6FA"/>
                </a:solidFill>
                <a:latin typeface="Helvetica Neue"/>
              </a:rPr>
              <a:t>占いはフィクションかもしれない。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8503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</a:pPr>
            <a:r>
              <a:rPr sz="2800" b="0">
                <a:solidFill>
                  <a:srgbClr val="E6E6FA"/>
                </a:solidFill>
                <a:latin typeface="Helvetica Neue"/>
              </a:rPr>
              <a:t>でも、あなたの体の反応は</a:t>
            </a:r>
          </a:p>
          <a:p>
            <a:pPr algn="ctr">
              <a:spcBef>
                <a:spcPts val="600"/>
              </a:spcBef>
            </a:pPr>
            <a:r>
              <a:rPr sz="3600" b="1">
                <a:solidFill>
                  <a:srgbClr val="F4D03F"/>
                </a:solidFill>
                <a:latin typeface="Helvetica Neue"/>
              </a:rPr>
              <a:t>本物だ。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96796" y="3840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879A0"/>
                </a:solidFill>
                <a:latin typeface="Helvetica Ne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96796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490C2"/>
                </a:solidFill>
                <a:latin typeface="Helvetica Neue"/>
              </a:rPr>
              <a:t>API の活用
（Live + TTS）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14316" y="3840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4D03F"/>
                </a:solidFill>
                <a:latin typeface="Helvetica Neue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4316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490C2"/>
                </a:solidFill>
                <a:latin typeface="Helvetica Neue"/>
              </a:rPr>
              <a:t>ハードウェア
+ ソフト連携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31836" y="38404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E6E6FA"/>
                </a:solidFill>
                <a:latin typeface="Helvetica Neue"/>
              </a:rPr>
              <a:t>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31836" y="44805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A490C2"/>
                </a:solidFill>
                <a:latin typeface="Helvetica Neue"/>
              </a:rPr>
              <a:t>AI に
追い込まれる体験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9996" y="3840480"/>
            <a:ext cx="18288" cy="1097280"/>
          </a:xfrm>
          <a:prstGeom prst="rect">
            <a:avLst/>
          </a:prstGeom>
          <a:solidFill>
            <a:srgbClr val="4A4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57516" y="3840480"/>
            <a:ext cx="18288" cy="1097280"/>
          </a:xfrm>
          <a:prstGeom prst="rect">
            <a:avLst/>
          </a:prstGeom>
          <a:solidFill>
            <a:srgbClr val="4A4E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56692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490C2"/>
                </a:solidFill>
                <a:latin typeface="Helvetica Neue"/>
              </a:rPr>
              <a:t>ご清聴ありがとうございました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